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regular ns1:id="rIdFont17"/>
    </ns0:embeddedFont>
    <ns0:embeddedFont>
      <ns0:font typeface="Space Grotesk"/>
      <ns0:bold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5614372c-7170-4ddb-aa56-477cbca22dbc.fntdata" /><ns0:Relationship Id="rIdFont17" Type="http://schemas.openxmlformats.org/officeDocument/2006/relationships/font" Target="fonts/bf3965d8-0556-4b53-81c8-f26177533714.fntdata" /><ns0:Relationship Id="rIdFont18" Type="http://schemas.openxmlformats.org/officeDocument/2006/relationships/font" Target="fonts/6333c4ac-50ce-48ee-ac4f-1e53201bba9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43112" y="1976437"/>
            <a:ext cx="8105775" cy="2905125"/>
          </a:xfrm>
          <a:prstGeom prst="roundRect">
            <a:avLst>
              <a:gd name="adj" fmla="val 786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4343" y="2443162"/>
            <a:ext cx="3643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Inter"/>
              </a:rPr>
              <a:t>GRAPH THEORY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161" y="2795587"/>
            <a:ext cx="9413676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000" i="0" u="none">
                <a:solidFill>
                  <a:srgbClr val="F8FAFC"/>
                </a:solidFill>
                <a:latin typeface="Space Grotesk"/>
              </a:rPr>
              <a:t>Dijkstra's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862387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Finding the shortest path. Dodging the negative edges.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047750"/>
            <a:ext cx="29337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076450"/>
            <a:ext cx="5410200" cy="3790950"/>
          </a:xfrm>
          <a:prstGeom prst="roundRect">
            <a:avLst>
              <a:gd name="adj" fmla="val 40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05050"/>
            <a:ext cx="4953000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318039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14675"/>
            <a:ext cx="65008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Greedy Pathfinding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86175"/>
            <a:ext cx="6191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Single-source shortest path algorithm.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143375"/>
            <a:ext cx="6191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Always picks the nearest unvisited node.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600575"/>
            <a:ext cx="6191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Guarantees optimal route.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8025" y="2786001"/>
            <a:ext cx="1917349" cy="75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Check all</a:t>
            </a:r>
            <a:r>
              <a:t>
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1971" y="2678994"/>
            <a:ext cx="1911857" cy="63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Use greedy</a:t>
            </a:r>
            <a:r>
              <a:t>
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19387"/>
            <a:ext cx="3454449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19387"/>
            <a:ext cx="3454449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719387"/>
            <a:ext cx="3454449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150" y="31099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1099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074" y="3109912"/>
            <a:ext cx="5143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457200"/>
            <a:ext cx="12954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Space Grotesk"/>
              </a:rPr>
              <a:t>DAA Core: The Greedy Paradigm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885" y="3795712"/>
            <a:ext cx="183772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Local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700" y="4243387"/>
            <a:ext cx="35322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Always picks the immediate minimum edge weight.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2119" y="3795712"/>
            <a:ext cx="208776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Global Optimal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9949" y="4243387"/>
            <a:ext cx="35322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Local greed safely guarantees the shortest total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0102" y="3795712"/>
            <a:ext cx="235029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Data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9199" y="4243387"/>
            <a:ext cx="35322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Relies heavily on Min-Heaps and Adjacency 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72200" y="1828800"/>
            <a:ext cx="5410200" cy="4095750"/>
          </a:xfrm>
          <a:prstGeom prst="roundRect">
            <a:avLst>
              <a:gd name="adj" fmla="val 37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90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956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005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7053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4953000" cy="2857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 4-Step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3581" y="5143500"/>
            <a:ext cx="6167437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Can't have a slow path</a:t>
            </a:r>
            <a:r>
              <a:t>
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if you always greedily pick the shortest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25908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329565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" y="400050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470535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Inter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2581275"/>
            <a:ext cx="31253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Initialize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2867025"/>
            <a:ext cx="2976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Distances to infinity. Source to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286125"/>
            <a:ext cx="411301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Select 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571875"/>
            <a:ext cx="3917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Pick unvisited node with minimum distance.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990975"/>
            <a:ext cx="381297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Relax Edges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276725"/>
            <a:ext cx="3631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Update distances to adjacent neighbors.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4695825"/>
            <a:ext cx="26003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Mark Visited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4981575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Repeat until target reached.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44265"/>
            <a:ext cx="5486400" cy="4264818"/>
          </a:xfrm>
          <a:prstGeom prst="roundRect">
            <a:avLst>
              <a:gd name="adj" fmla="val 35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2865"/>
            <a:ext cx="5029200" cy="28360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186112"/>
            <a:ext cx="152400" cy="219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662362"/>
            <a:ext cx="152400" cy="21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4138612"/>
            <a:ext cx="180975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 Achilles Heel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503" y="5037534"/>
            <a:ext cx="4750593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Inter"/>
              </a:rPr>
              <a:t>"Negative Edge Weights? </a:t>
            </a:r>
            <a:r>
              <a:t>
</a:t>
            </a:r>
            <a:r>
              <a:rPr b="1" sz="2400" i="0" u="none">
                <a:solidFill>
                  <a:srgbClr val="D946EF"/>
                </a:solidFill>
                <a:latin typeface="Inter"/>
              </a:rPr>
              <a:t>We don't do that here.</a:t>
            </a:r>
            <a:r>
              <a:rPr b="1" sz="2400" i="0" u="none">
                <a:solidFill>
                  <a:srgbClr val="0F172A"/>
                </a:solidFill>
                <a:latin typeface="Inter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152775"/>
            <a:ext cx="5334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Inter"/>
              </a:rPr>
              <a:t>Greedy failure:</a:t>
            </a:r>
            <a:r>
              <a:rPr b="1" sz="1650" i="0" u="none">
                <a:solidFill>
                  <a:srgbClr val="EF4444"/>
                </a:solidFill>
                <a:latin typeface="Inter"/>
              </a:rPr>
              <a:t> Assumes paths only get longer.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629025"/>
            <a:ext cx="5334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Inter"/>
              </a:rPr>
              <a:t>Infinite loops:</a:t>
            </a:r>
            <a:r>
              <a:rPr b="1" sz="1650" i="0" u="none">
                <a:solidFill>
                  <a:srgbClr val="EF4444"/>
                </a:solidFill>
                <a:latin typeface="Inter"/>
              </a:rPr>
              <a:t> Negative cycles break the logic.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6575" y="4105275"/>
            <a:ext cx="47910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The Alternative:</a:t>
            </a:r>
            <a:r>
              <a:rPr b="1" sz="1650" i="0" u="none">
                <a:solidFill>
                  <a:srgbClr val="0F172A"/>
                </a:solidFill>
                <a:latin typeface="Inter"/>
              </a:rPr>
              <a:t> Bellman-Ford algorithm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24400" y="1733550"/>
            <a:ext cx="6858000" cy="19050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4400" y="4114800"/>
            <a:ext cx="6858000" cy="1905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71675"/>
            <a:ext cx="38100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2743200" y="609600"/>
            <a:ext cx="143256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2700" i="0" u="none">
                <a:solidFill>
                  <a:srgbClr val="0F172A"/>
                </a:solidFill>
                <a:latin typeface="Space Grotesk"/>
              </a:rPr>
              <a:t>Time Complexity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250" y="2057400"/>
            <a:ext cx="71437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991B1B"/>
                </a:solidFill>
                <a:latin typeface="Space Grotesk"/>
              </a:rPr>
              <a:t>Standard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8250" y="2476500"/>
            <a:ext cx="714375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B91C1C"/>
                </a:solidFill>
                <a:latin typeface="Inter"/>
              </a:rPr>
              <a:t>O(V²)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8250" y="3114675"/>
            <a:ext cx="7143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F1D1D"/>
                </a:solidFill>
                <a:latin typeface="Inter"/>
              </a:rPr>
              <a:t>Searching entire array for minimums.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8250" y="4438650"/>
            <a:ext cx="71437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66534"/>
                </a:solidFill>
                <a:latin typeface="Space Grotesk"/>
              </a:rPr>
              <a:t>Priority Queue (Min-Heap)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8250" y="4857750"/>
            <a:ext cx="714375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5803D"/>
                </a:solidFill>
                <a:latin typeface="Inter"/>
              </a:rPr>
              <a:t>O(E + V log 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250" y="5495925"/>
            <a:ext cx="7143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4532D"/>
                </a:solidFill>
                <a:latin typeface="Inter"/>
              </a:rPr>
              <a:t>Instant access to shortest distance node.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3450" y="4191000"/>
            <a:ext cx="247650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67775" y="4191000"/>
            <a:ext cx="230505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470844"/>
            <a:ext cx="3810000" cy="2811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81000" y="609600"/>
            <a:ext cx="12954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Space Grotesk"/>
              </a:rPr>
              <a:t>Algorithm Showdown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1581" y="3028950"/>
            <a:ext cx="190023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Space Grotesk"/>
              </a:rPr>
              <a:t>A*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762" y="3562350"/>
            <a:ext cx="35718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Uses heuristics. Directly targets the destination.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6287" y="4343400"/>
            <a:ext cx="2790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"I know exactly where to go."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7685" y="3028950"/>
            <a:ext cx="182522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Space Grotesk"/>
              </a:rPr>
              <a:t>Dijkstra's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4362" y="3562350"/>
            <a:ext cx="35718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Blind search. Explores evenly in all directions.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043" y="4343400"/>
            <a:ext cx="2576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"I must check every node."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376237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95487" y="2219325"/>
            <a:ext cx="820102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Foundational. Fast. Reliable.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3218" y="3028950"/>
            <a:ext cx="64055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The cornerstone of modern routing technology.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9611" y="4257675"/>
            <a:ext cx="221277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38BDF8"/>
                </a:solidFill>
                <a:latin typeface="Space Grotesk"/>
              </a:rPr>
              <a:t>Questions?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38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098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1813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71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171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943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943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52700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2422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9575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Space Grotesk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052512"/>
            <a:ext cx="7715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https://cdn-useast1.kapwing.com/static/templates/multiple-buttons-meme-template-full-084fd503.webp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252537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www.kapwing.com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1824037"/>
            <a:ext cx="4048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https://en.meming.world/images/en/2/2c/Roll_Safe.jpg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024062"/>
            <a:ext cx="2309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en.meming.world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2595562"/>
            <a:ext cx="7655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https://supermeme-space-prd.ams3.cdn.digitaloceanspaces.com/templates/We-dont-do-that-here.png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2795587"/>
            <a:ext cx="2012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supermeme.ai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367087"/>
            <a:ext cx="7453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https://supermeme-space-prd.ams3.cdn.digitaloceanspaces.com/templates/Drake-Hotline-Bling.png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3567112"/>
            <a:ext cx="2012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supermeme.ai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138612"/>
            <a:ext cx="7381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https://supermeme-space-prd.ams3.cdn.digitaloceanspaces.com/templates/Big-dog-small-dog.png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338637"/>
            <a:ext cx="2012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supermeme.ai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